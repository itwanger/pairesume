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大家好，今天给大家介绍一款AI驱动的智能简历工具——派简历。它的核心理念是让AI和你一起写一份高质量简历，从AI评分到问题诊断，再到内容优化与智能排版，一站式搞定。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本次分享分为五个部分：产品介绍、核心功能、实战演示、排版导出和立即开始。我们会用一份真实的27届Agent开发岗简历，从头到尾演示派简历的完整使用流程。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派简历的核心价值可以用三个词概括：AI评分、智能优化、一页排版。它不是一个简单的简历模板工具，而是一个AI驱动的简历写作助手，能帮你发现问题、优化内容、最终导出一份专业的简历。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模块化编辑是派简历的基础功能。9大模块覆盖了简历所需的所有内容类型，你可以根据自己的情况灵活添加、删除和调整顺序。更贴心的是"从历史资料填入"功能，填写过的内容会自动保存，下次新建简历时一键导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智能优化是派简历最实用的功能之一。很多同学写简历时最大的痛点就是"不会描述自己的经历"，干巴巴的几句话完全体现不出价值。派简历在每一条经历旁边都放了AI优化按钮，点击一下就能生成专业、有数据支撑的描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进入实战演示环节。我们以一份27届Agent开发岗的简历为例，从头到尾演示完整流程。第一步是填写基本信息和教育背景。基本信息包括姓名、邮箱、求职意向、手机号等；教育背景支持211、双一流标签，GPA、专业排名、主修课程、英语成绩都能详细填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是填写科研经历和实习经历，这是简历的灵魂。科研经历支持项目背景、工作内容、研究成果的结构化填写，还能标注论文投稿状态。实习经历采用"管理项目"的方式，每段实习可以包含多个项目，每个项目都有项目名称、角色、时间、技术栈、项目简介和核心职责。这份简历里我们填了字节跳动和百度两段实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是填写专业技能和项目经历。专业技能支持分类管理，比如编程语言、AI与大模型、Agent开发、后端与工程化，每条技能旁边都有AI优化按钮。项目经历和实习经历类似，支持项目名称、角色、时间、技术栈、项目简介和核心职责的结构化填写。到这里，一份完整的简历六大模块就全部填写完成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实时预览是派简历非常贴心的功能。填写过程中随时可以切换到文本预览或PDF预览。文本预览方便快速浏览内容，PDF预览则1:1还原最终导出效果，你能清楚地看到简历有几页、排版如何、有没有溢出。这份简历我们填完后PDF预览显示共3页，内容非常充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排版导出是派简历最惊艳的功能。12种精美模板任选，从系统默认、蓝调重点、校园技术蓝到Vibe高密技术，总有一款适合你。更厉害的是"智能长一页"功能，能把多页简历内容无损压缩到一页，特别适合校招投递。还有标准/紧凑两种密度切换，最后一键导出PDF，整个过程不到10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最终效果。从空白简历到一份专业的Agent开发岗简历，我们只用了大约15分钟。6大模块全部填写完成，包含两段大厂实习和科研经历。通过智能长一页功能，所有内容无损压缩到一页，蓝调重点模板，紧凑密度，最后一键导出PDF。整个流程非常顺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邀请大家立即开始使用派简历。访问resume.paicoding.com，免费注册，就能开始制作你的专属简历。AI评分帮你发现问题，智能优化帮你提升内容，12种模板和智能长一页帮你排版，最后一键导出PDF。从今天开始，让AI和你一起写一份让面试官心动的好简历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9.pn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254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VOL.01 · 2026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0" y="254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ISSUE / 创刊号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驱动的智能简历工具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905000"/>
            <a:ext cx="711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派简历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711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PAI </a:t>
            </a:r>
            <a:r>
              <a:rPr lang="en-US" b="true" i="false" strike="noStrike" u="none" sz="36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RESUME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318000"/>
            <a:ext cx="609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171512"/>
                </a:solidFill>
                <a:latin typeface="Noto Serif SC"/>
                <a:ea typeface="Noto Serif SC"/>
                <a:cs typeface="Noto Serif SC"/>
                <a:sym typeface="Noto Serif SC"/>
              </a:rPr>
              <a:t>让 AI 和你一起，写一份高质量简历。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800">
                <a:solidFill>
                  <a:srgbClr val="171512"/>
                </a:solidFill>
                <a:latin typeface="Noto Serif SC"/>
                <a:ea typeface="Noto Serif SC"/>
                <a:cs typeface="Noto Serif SC"/>
                <a:sym typeface="Noto Serif SC"/>
              </a:rPr>
              <a:t>面试官和 HR 看一眼就会爱上。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461000"/>
            <a:ext cx="38100" cy="6350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5461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AI 评分 · 智能优化 · 一页排版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从发现问题到完成修改，一站式搞定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0" r="0" t="24770" b="24770"/>
          <a:stretch>
            <a:fillRect/>
          </a:stretch>
        </p:blipFill>
        <p:spPr>
          <a:xfrm rot="0" flipH="false" flipV="false">
            <a:off x="7874000" y="4064000"/>
            <a:ext cx="3810000" cy="2159000"/>
          </a:xfrm>
          <a:prstGeom prst="roundRect">
            <a:avLst>
              <a:gd name="adj" fmla="val 2352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7874000" y="6286500"/>
            <a:ext cx="381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FIG.01 / 实时预览效果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 / 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43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本期目录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68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4130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71512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从产品介绍到实战演示，全方位展示派简历如何帮助你打造一份让面试官心动的高质量简历。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58000" y="114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747000" y="1206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产品介绍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747000" y="15494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什么是派简历 · 核心价值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6858009" y="1962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9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858000" y="2159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747000" y="222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747000" y="25654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模块化编辑 · AI优化 · 实时预览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549" flipH="false" flipV="false">
            <a:off x="6858009" y="2978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9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858000" y="3175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747000" y="3238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实战演示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747000" y="35814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27届Agent开发岗简历全流程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549" flipH="false" flipV="false">
            <a:off x="6858009" y="399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9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858000" y="4191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747000" y="425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排版导出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747000" y="45974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12种模板 · 智能长一页 · 一键导出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549" flipH="false" flipV="false">
            <a:off x="6858009" y="501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B9A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858000" y="5207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747000" y="527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立即开始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747000" y="56134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扫码使用 · 让AI帮你写简历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969000"/>
            <a:ext cx="5080000" cy="635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016000" y="6096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resume.paicoding.com · 扫码开始制作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01 / 产品介绍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43000"/>
            <a:ext cx="558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WHAT IS PAI RESUME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651000"/>
            <a:ext cx="571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让 AI 和你一起，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写一份</a:t>
            </a:r>
            <a:r>
              <a:rPr lang="en-US" b="true" i="false" strike="noStrike" u="none" sz="44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高质量简历</a:t>
            </a:r>
            <a:r>
              <a:rPr lang="en-US" b="true" i="false" strike="noStrike" u="none" sz="44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635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683000"/>
            <a:ext cx="558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171512"/>
                </a:solidFill>
                <a:latin typeface="Noto Serif SC"/>
                <a:ea typeface="Noto Serif SC"/>
                <a:cs typeface="Noto Serif SC"/>
                <a:sym typeface="Noto Serif SC"/>
              </a:rPr>
              <a:t>派简历是一款 AI 驱动的在线简历制作工具。从 AI 评分到问题诊断，再到内容优化与智能排版，派简历不仅能为你提供写作灵感，还能把枯燥的工作经历、实习经历和项目经历提炼升华。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207000"/>
            <a:ext cx="1651000" cy="1270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5334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AI 评分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5778500"/>
            <a:ext cx="139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C8D2E6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多维度智能诊断，发现简历问题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603500" y="5207000"/>
            <a:ext cx="1651000" cy="12700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730500" y="5334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智能优化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730500" y="5778500"/>
            <a:ext cx="139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FFDCE6"/>
                </a:solidFill>
                <a:latin typeface="Noto Sans SC"/>
                <a:ea typeface="Noto Sans SC"/>
                <a:cs typeface="Noto Sans SC"/>
                <a:sym typeface="Noto Sans SC"/>
              </a:rPr>
              <a:t>一键改写经历描述，提升专业度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5207000"/>
            <a:ext cx="1651000" cy="12700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5334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一页排版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72000" y="5778500"/>
            <a:ext cx="139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B4AAA0"/>
                </a:solidFill>
                <a:latin typeface="Noto Sans SC"/>
                <a:ea typeface="Noto Sans SC"/>
                <a:cs typeface="Noto Sans SC"/>
                <a:sym typeface="Noto Sans SC"/>
              </a:rPr>
              <a:t>12种模板，智能长一页，一键导出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0" r="0" t="789" b="789"/>
          <a:stretch>
            <a:fillRect/>
          </a:stretch>
        </p:blipFill>
        <p:spPr>
          <a:xfrm rot="0" flipH="false" flipV="false">
            <a:off x="6858000" y="1143000"/>
            <a:ext cx="4826000" cy="5334000"/>
          </a:xfrm>
          <a:prstGeom prst="roundRect">
            <a:avLst>
              <a:gd name="adj" fmla="val 1052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858000" y="6540500"/>
            <a:ext cx="482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FIG.02 / 派简历首页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02 / 核心功能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04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789" b="789"/>
          <a:stretch>
            <a:fillRect/>
          </a:stretch>
        </p:blipFill>
        <p:spPr>
          <a:xfrm rot="0" flipH="false" flipV="false">
            <a:off x="762000" y="1143000"/>
            <a:ext cx="4826000" cy="5334000"/>
          </a:xfrm>
          <a:prstGeom prst="roundRect">
            <a:avLst>
              <a:gd name="adj" fmla="val 1052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6540500"/>
            <a:ext cx="482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FIG.03 / 模块化编辑菜单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1430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MODULAR EDITING / 模块化编辑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159500" y="1651000"/>
            <a:ext cx="546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6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9大模块，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6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按需组合你的简历。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857500"/>
            <a:ext cx="635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1115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171512"/>
                </a:solidFill>
                <a:latin typeface="Noto Serif SC"/>
                <a:ea typeface="Noto Serif SC"/>
                <a:cs typeface="Noto Serif SC"/>
                <a:sym typeface="Noto Serif SC"/>
              </a:rPr>
              <a:t>基本信息、教育背景、实习经历、项目经历、科研经历、专业技能、论文期刊、荣誉奖项、工作经历——9大模块自由组合，只展示你想展示的内容。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4064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646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4191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灵活添加删除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4546600"/>
            <a:ext cx="215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不需要的模块一键删除，需要的随时添加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017000" y="4064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FF4F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207500" y="4191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自由调整顺序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207500" y="4546600"/>
            <a:ext cx="215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拖拽调整模块顺序，突出你的核心优势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23000" y="5334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5524500"/>
            <a:ext cx="482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从历史资料填入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5905500"/>
            <a:ext cx="4826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4AAA0"/>
                </a:solidFill>
                <a:latin typeface="Noto Serif SC"/>
                <a:ea typeface="Noto Serif SC"/>
                <a:cs typeface="Noto Serif SC"/>
                <a:sym typeface="Noto Serif SC"/>
              </a:rPr>
              <a:t>填写过的内容自动保存，新建简历一键导入，不用重复填写。你的简历资料库，越用越聪明。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51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02 / 核心功能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43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AI OPTIMIZATION / AI 智能优化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651000"/>
            <a:ext cx="635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不会写经历？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让 AI </a:t>
            </a:r>
            <a:r>
              <a:rPr lang="en-US" b="true" i="false" strike="noStrike" u="none" sz="42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帮你写</a:t>
            </a:r>
            <a:r>
              <a:rPr lang="en-US" b="true" i="false" strike="noStrike" u="none" sz="4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635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683000"/>
            <a:ext cx="609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每一条经历描述旁边都有"AI优化"按钮。点击一下，AI 就能把你干巴巴的工作描述，改写成专业、有亮点、有数据支撑的简历语言。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953000"/>
            <a:ext cx="2794000" cy="1524000"/>
          </a:xfrm>
          <a:prstGeom prst="roundRect">
            <a:avLst>
              <a:gd name="adj" fmla="val 0"/>
            </a:avLst>
          </a:prstGeom>
          <a:solidFill>
            <a:srgbClr val="282623">
              <a:alpha val="100000"/>
            </a:srgbClr>
          </a:solidFill>
          <a:ln w="12700" cmpd="sng" cap="flat">
            <a:solidFill>
              <a:srgbClr val="1646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51435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优化前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5524500"/>
            <a:ext cx="2413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A0968C"/>
                </a:solidFill>
                <a:latin typeface="Noto Serif SC"/>
                <a:ea typeface="Noto Serif SC"/>
                <a:cs typeface="Noto Serif SC"/>
                <a:sym typeface="Noto Serif SC"/>
              </a:rPr>
              <a:t>"负责后端开发，写了一些接口，参与了项目的部分工作。"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746500" y="54610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4953000"/>
            <a:ext cx="2794000" cy="1524000"/>
          </a:xfrm>
          <a:prstGeom prst="roundRect">
            <a:avLst>
              <a:gd name="adj" fmla="val 0"/>
            </a:avLst>
          </a:prstGeom>
          <a:solidFill>
            <a:srgbClr val="282623">
              <a:alpha val="100000"/>
            </a:srgbClr>
          </a:solidFill>
          <a:ln w="12700" cmpd="sng" cap="flat">
            <a:solidFill>
              <a:srgbClr val="FF4F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35500" y="51435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优化后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35500" y="5524500"/>
            <a:ext cx="2413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DCD2C8"/>
                </a:solidFill>
                <a:latin typeface="Noto Serif SC"/>
                <a:ea typeface="Noto Serif SC"/>
                <a:cs typeface="Noto Serif SC"/>
                <a:sym typeface="Noto Serif SC"/>
              </a:rPr>
              <a:t>"主导核心服务后端架构设计，实现 15+ 高并发接口，QPS 提升 40%，系统可用性达 99.9%。"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rcRect l="8555" r="8555" t="0" b="0"/>
          <a:stretch>
            <a:fillRect/>
          </a:stretch>
        </p:blipFill>
        <p:spPr>
          <a:xfrm rot="0" flipH="false" flipV="false">
            <a:off x="7747000" y="1143000"/>
            <a:ext cx="3937000" cy="5334000"/>
          </a:xfrm>
          <a:prstGeom prst="roundRect">
            <a:avLst>
              <a:gd name="adj" fmla="val 1290"/>
            </a:avLst>
          </a:prstGeom>
          <a:noFill/>
          <a:ln w="25400" cmpd="sng" cap="flat">
            <a:solidFill>
              <a:srgbClr val="F1E2C2">
                <a:alpha val="100000"/>
              </a:srgbClr>
            </a:solidFill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7747000" y="6540500"/>
            <a:ext cx="393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A0968C"/>
                </a:solidFill>
                <a:latin typeface="Noto Sans SC"/>
                <a:ea typeface="Noto Sans SC"/>
                <a:cs typeface="Noto Sans SC"/>
                <a:sym typeface="Noto Sans SC"/>
              </a:rPr>
              <a:t>FIG.04 / 专业技能模块 AI 优化入口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03 / 实战演示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06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079500"/>
            <a:ext cx="635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LIVE DEMO / 27届 Agent 开发岗简历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524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第一步：基本信息 + 教育背景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60600"/>
            <a:ext cx="635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18507" b="18507"/>
          <a:stretch>
            <a:fillRect/>
          </a:stretch>
        </p:blipFill>
        <p:spPr>
          <a:xfrm rot="0" flipH="false" flipV="false">
            <a:off x="762000" y="2540000"/>
            <a:ext cx="5207000" cy="3683000"/>
          </a:xfrm>
          <a:prstGeom prst="roundRect">
            <a:avLst>
              <a:gd name="adj" fmla="val 1379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6286500"/>
            <a:ext cx="520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FIG.05 / 基本信息填写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18507" b="18507"/>
          <a:stretch>
            <a:fillRect/>
          </a:stretch>
        </p:blipFill>
        <p:spPr>
          <a:xfrm rot="0" flipH="false" flipV="false">
            <a:off x="6223000" y="2540000"/>
            <a:ext cx="5207000" cy="3683000"/>
          </a:xfrm>
          <a:prstGeom prst="roundRect">
            <a:avLst>
              <a:gd name="adj" fmla="val 1379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6223000" y="6286500"/>
            <a:ext cx="520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FIG.06 / 教育背景填写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6604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C8B9A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03 / 实战演示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07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079500"/>
            <a:ext cx="635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LIVE DEMO / 经历是简历的灵魂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524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第二步：科研经历 + 实习经历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60600"/>
            <a:ext cx="635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18507" b="18507"/>
          <a:stretch>
            <a:fillRect/>
          </a:stretch>
        </p:blipFill>
        <p:spPr>
          <a:xfrm rot="0" flipH="false" flipV="false">
            <a:off x="762000" y="2540000"/>
            <a:ext cx="5207000" cy="3683000"/>
          </a:xfrm>
          <a:prstGeom prst="roundRect">
            <a:avLst>
              <a:gd name="adj" fmla="val 1379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6286500"/>
            <a:ext cx="520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FIG.07 / 科研经历填写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18507" b="18507"/>
          <a:stretch>
            <a:fillRect/>
          </a:stretch>
        </p:blipFill>
        <p:spPr>
          <a:xfrm rot="0" flipH="false" flipV="false">
            <a:off x="6223000" y="2540000"/>
            <a:ext cx="5207000" cy="3683000"/>
          </a:xfrm>
          <a:prstGeom prst="roundRect">
            <a:avLst>
              <a:gd name="adj" fmla="val 1379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6223000" y="6286500"/>
            <a:ext cx="520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FIG.08 / 实习经历填写（字节+百度）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6604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C8B9A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03 / 实战演示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08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079500"/>
            <a:ext cx="635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LIVE DEMO / 技术栈与项目成果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524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第三步：专业技能 + 项目经历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60600"/>
            <a:ext cx="635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18507" b="18507"/>
          <a:stretch>
            <a:fillRect/>
          </a:stretch>
        </p:blipFill>
        <p:spPr>
          <a:xfrm rot="0" flipH="false" flipV="false">
            <a:off x="762000" y="2540000"/>
            <a:ext cx="5207000" cy="3683000"/>
          </a:xfrm>
          <a:prstGeom prst="roundRect">
            <a:avLst>
              <a:gd name="adj" fmla="val 1379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6286500"/>
            <a:ext cx="520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FIG.09 / 专业技能（4大分类，每条可AI优化）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18507" b="18507"/>
          <a:stretch>
            <a:fillRect/>
          </a:stretch>
        </p:blipFill>
        <p:spPr>
          <a:xfrm rot="0" flipH="false" flipV="false">
            <a:off x="6223000" y="2540000"/>
            <a:ext cx="5207000" cy="3683000"/>
          </a:xfrm>
          <a:prstGeom prst="roundRect">
            <a:avLst>
              <a:gd name="adj" fmla="val 1379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6223000" y="6286500"/>
            <a:ext cx="5207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FIG.10 / 项目经历（智能简历Agent项目）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6604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C8B9A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51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02 / 核心功能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09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143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LIVE PREVIEW / 实时预览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651000"/>
            <a:ext cx="635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边写边看，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0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所见即</a:t>
            </a:r>
            <a:r>
              <a:rPr lang="en-US" b="true" i="false" strike="noStrike" u="none" sz="40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所得</a:t>
            </a:r>
            <a:r>
              <a:rPr lang="en-US" b="true" i="false" strike="noStrike" u="none" sz="40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635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429000"/>
            <a:ext cx="609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填写过程中随时可以切换到文本预览和 PDF 预览。文本预览方便快速浏览内容，PDF 预览则 1:1 还原最终导出效果，共几页、排版如何，一目了然。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699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282623">
              <a:alpha val="100000"/>
            </a:srgbClr>
          </a:solidFill>
          <a:ln w="12700" cmpd="sng" cap="flat">
            <a:solidFill>
              <a:srgbClr val="1646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8895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文本预览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52705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A0968C"/>
                </a:solidFill>
                <a:latin typeface="Noto Serif SC"/>
                <a:ea typeface="Noto Serif SC"/>
                <a:cs typeface="Noto Serif SC"/>
                <a:sym typeface="Noto Serif SC"/>
              </a:rPr>
              <a:t>纯文本形式快速浏览全部内容，方便检查信息完整性和逻辑顺序。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56000" y="4699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282623">
              <a:alpha val="100000"/>
            </a:srgbClr>
          </a:solidFill>
          <a:ln w="12700" cmpd="sng" cap="flat">
            <a:solidFill>
              <a:srgbClr val="FF4F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746500" y="48895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PDF 预览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746500" y="52705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A0968C"/>
                </a:solidFill>
                <a:latin typeface="Noto Serif SC"/>
                <a:ea typeface="Noto Serif SC"/>
                <a:cs typeface="Noto Serif SC"/>
                <a:sym typeface="Noto Serif SC"/>
              </a:rPr>
              <a:t>1:1 还原最终导出效果，分页、排版、字体全部真实呈现。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rcRect l="0" r="0" t="663" b="663"/>
          <a:stretch>
            <a:fillRect/>
          </a:stretch>
        </p:blipFill>
        <p:spPr>
          <a:xfrm rot="0" flipH="false" flipV="false">
            <a:off x="6731000" y="1143000"/>
            <a:ext cx="4699000" cy="5207000"/>
          </a:xfrm>
          <a:prstGeom prst="roundRect">
            <a:avLst>
              <a:gd name="adj" fmla="val 1081"/>
            </a:avLst>
          </a:prstGeom>
          <a:noFill/>
          <a:ln w="25400" cmpd="sng" cap="flat">
            <a:solidFill>
              <a:srgbClr val="F1E2C2">
                <a:alpha val="100000"/>
              </a:srgbClr>
            </a:solidFill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731000" y="6413500"/>
            <a:ext cx="4699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A0968C"/>
                </a:solidFill>
                <a:latin typeface="Noto Sans SC"/>
                <a:ea typeface="Noto Sans SC"/>
                <a:cs typeface="Noto Sans SC"/>
                <a:sym typeface="Noto Sans SC"/>
              </a:rPr>
              <a:t>FIG.11 / PDF 实时预览（3页完整呈现）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2C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04 / 排版导出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10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016000"/>
            <a:ext cx="635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LAYOUT &amp; EXPORT / 排版导出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4605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12种模板，一键导出专业PDF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184400"/>
            <a:ext cx="635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33950" b="33950"/>
          <a:stretch>
            <a:fillRect/>
          </a:stretch>
        </p:blipFill>
        <p:spPr>
          <a:xfrm rot="0" flipH="false" flipV="false">
            <a:off x="762000" y="2476500"/>
            <a:ext cx="5461000" cy="1968500"/>
          </a:xfrm>
          <a:prstGeom prst="roundRect">
            <a:avLst>
              <a:gd name="adj" fmla="val 258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4483100"/>
            <a:ext cx="5461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FIG.12 / 排版导出主界面（标准PDF/智能长一页/密度切换）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32304" b="32304"/>
          <a:stretch>
            <a:fillRect/>
          </a:stretch>
        </p:blipFill>
        <p:spPr>
          <a:xfrm rot="0" flipH="false" flipV="false">
            <a:off x="6477000" y="2476500"/>
            <a:ext cx="4953000" cy="1968500"/>
          </a:xfrm>
          <a:prstGeom prst="roundRect">
            <a:avLst>
              <a:gd name="adj" fmla="val 2580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6477000" y="4483100"/>
            <a:ext cx="4953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9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FIG.13 / 12种模板任选（蓝调重点已选中）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24437" b="24437"/>
          <a:stretch>
            <a:fillRect/>
          </a:stretch>
        </p:blipFill>
        <p:spPr>
          <a:xfrm rot="0" flipH="false" flipV="false">
            <a:off x="762000" y="4889500"/>
            <a:ext cx="3556000" cy="1651000"/>
          </a:xfrm>
          <a:prstGeom prst="roundRect">
            <a:avLst>
              <a:gd name="adj" fmla="val 3076"/>
            </a:avLst>
          </a:prstGeom>
          <a:noFill/>
          <a:ln w="25400" cmpd="sng" cap="flat">
            <a:solidFill>
              <a:srgbClr val="1646B8">
                <a:alpha val="100000"/>
              </a:srgbClr>
            </a:solidFill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762000" y="6578600"/>
            <a:ext cx="3556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9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智能长一页（内容无损）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rcRect l="0" r="0" t="24437" b="24437"/>
          <a:stretch>
            <a:fillRect/>
          </a:stretch>
        </p:blipFill>
        <p:spPr>
          <a:xfrm rot="0" flipH="false" flipV="false">
            <a:off x="4572000" y="4889500"/>
            <a:ext cx="3556000" cy="1651000"/>
          </a:xfrm>
          <a:prstGeom prst="roundRect">
            <a:avLst>
              <a:gd name="adj" fmla="val 3076"/>
            </a:avLst>
          </a:prstGeom>
          <a:noFill/>
          <a:ln w="25400" cmpd="sng" cap="flat">
            <a:solidFill>
              <a:srgbClr val="FF4F87">
                <a:alpha val="100000"/>
              </a:srgbClr>
            </a:solidFill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4572000" y="6578600"/>
            <a:ext cx="3556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9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紧凑密度（信息更密集）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rcRect l="0" r="0" t="20176" b="20176"/>
          <a:stretch>
            <a:fillRect/>
          </a:stretch>
        </p:blipFill>
        <p:spPr>
          <a:xfrm rot="0" flipH="false" flipV="false">
            <a:off x="8382000" y="4889500"/>
            <a:ext cx="3048000" cy="1651000"/>
          </a:xfrm>
          <a:prstGeom prst="roundRect">
            <a:avLst>
              <a:gd name="adj" fmla="val 3076"/>
            </a:avLst>
          </a:prstGeom>
          <a:noFill/>
          <a:ln w="25400" cmpd="sng" cap="flat">
            <a:solidFill>
              <a:srgbClr val="171512">
                <a:alpha val="100000"/>
              </a:srgbClr>
            </a:solidFill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8382000" y="6578600"/>
            <a:ext cx="3048000" cy="177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900">
                <a:solidFill>
                  <a:srgbClr val="171512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一键导出PDF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51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646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04 / 排版导出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11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079500"/>
            <a:ext cx="635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FINAL RESULT / 最终效果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524000"/>
            <a:ext cx="571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从空白到专业，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0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只用了</a:t>
            </a:r>
            <a:r>
              <a:rPr lang="en-US" b="true" i="false" strike="noStrike" u="none" sz="40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15分钟</a:t>
            </a:r>
            <a:r>
              <a:rPr lang="en-US" b="true" i="false" strike="noStrike" u="none" sz="40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635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02000"/>
            <a:ext cx="533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C8BEB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一份包含基本信息、教育背景、科研经历、两段实习、专业技能、项目经历的完整 Agent 开发岗简历，蓝调重点模板，智能长一页，紧凑密度，一键导出 PDF。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826000"/>
            <a:ext cx="1651000" cy="1524000"/>
          </a:xfrm>
          <a:prstGeom prst="roundRect">
            <a:avLst>
              <a:gd name="adj" fmla="val 0"/>
            </a:avLst>
          </a:prstGeom>
          <a:solidFill>
            <a:srgbClr val="282623">
              <a:alpha val="100000"/>
            </a:srgbClr>
          </a:solidFill>
          <a:ln w="12700" cmpd="sng" cap="flat">
            <a:solidFill>
              <a:srgbClr val="1646B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5016500"/>
            <a:ext cx="139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6大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5588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968C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模块全部填写完成，内容充实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603500" y="4826000"/>
            <a:ext cx="1651000" cy="1524000"/>
          </a:xfrm>
          <a:prstGeom prst="roundRect">
            <a:avLst>
              <a:gd name="adj" fmla="val 0"/>
            </a:avLst>
          </a:prstGeom>
          <a:solidFill>
            <a:srgbClr val="282623">
              <a:alpha val="100000"/>
            </a:srgbClr>
          </a:solidFill>
          <a:ln w="12700" cmpd="sng" cap="flat">
            <a:solidFill>
              <a:srgbClr val="FF4F8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730500" y="5016500"/>
            <a:ext cx="139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1页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730500" y="5588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968C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智能长一页，内容无损压缩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4826000"/>
            <a:ext cx="1651000" cy="1524000"/>
          </a:xfrm>
          <a:prstGeom prst="roundRect">
            <a:avLst>
              <a:gd name="adj" fmla="val 0"/>
            </a:avLst>
          </a:prstGeom>
          <a:solidFill>
            <a:srgbClr val="282623">
              <a:alpha val="100000"/>
            </a:srgbClr>
          </a:solidFill>
          <a:ln w="12700" cmpd="sng" cap="flat">
            <a:solidFill>
              <a:srgbClr val="F1E2C2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5016500"/>
            <a:ext cx="139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10s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72000" y="5588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968C"/>
                </a:solidFill>
                <a:latin typeface="Noto Sans SC"/>
                <a:ea typeface="Noto Sans SC"/>
                <a:cs typeface="Noto Sans SC"/>
                <a:sym typeface="Noto Sans SC"/>
              </a:rPr>
              <a:t>从排版到导出PDF，一键完成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534" r="534" t="0" b="0"/>
          <a:stretch>
            <a:fillRect/>
          </a:stretch>
        </p:blipFill>
        <p:spPr>
          <a:xfrm rot="0" flipH="false" flipV="false">
            <a:off x="6731000" y="1079500"/>
            <a:ext cx="4699000" cy="5334000"/>
          </a:xfrm>
          <a:prstGeom prst="roundRect">
            <a:avLst>
              <a:gd name="adj" fmla="val 1081"/>
            </a:avLst>
          </a:prstGeom>
          <a:noFill/>
          <a:ln w="25400" cmpd="sng" cap="flat">
            <a:solidFill>
              <a:srgbClr val="F1E2C2">
                <a:alpha val="100000"/>
              </a:srgbClr>
            </a:solidFill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6731000" y="6477000"/>
            <a:ext cx="4699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A0968C"/>
                </a:solidFill>
                <a:latin typeface="Noto Sans SC"/>
                <a:ea typeface="Noto Sans SC"/>
                <a:cs typeface="Noto Sans SC"/>
                <a:sym typeface="Noto Sans SC"/>
              </a:rPr>
              <a:t>FIG.14 / 最终简历效果（蓝调重点模板）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46B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0"/>
          </a:xfrm>
          <a:prstGeom prst="roundRect">
            <a:avLst>
              <a:gd name="adj" fmla="val 0"/>
            </a:avLst>
          </a:prstGeom>
          <a:solidFill>
            <a:srgbClr val="17151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90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05 / 立即开始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190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12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GET STARTED NOW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1841500"/>
            <a:ext cx="889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5833"/>
              </a:lnSpc>
              <a:defRPr/>
            </a:pPr>
            <a:r>
              <a:rPr lang="en-US" b="true" i="false" strike="noStrike" u="none" sz="7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你的下一份</a:t>
            </a:r>
            <a:endParaRPr lang="en-US" sz="1100"/>
          </a:p>
          <a:p>
            <a:pPr algn="l" marL="0" indent="0">
              <a:lnSpc>
                <a:spcPct val="95833"/>
              </a:lnSpc>
            </a:pPr>
            <a:r>
              <a:rPr lang="en-US" b="true" i="false" strike="noStrike" u="none" sz="7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好简历，</a:t>
            </a:r>
          </a:p>
          <a:p>
            <a:pPr algn="l" marL="0" indent="0">
              <a:lnSpc>
                <a:spcPct val="95833"/>
              </a:lnSpc>
            </a:pPr>
            <a:r>
              <a:rPr lang="en-US" b="true" i="false" strike="noStrike" u="none" sz="7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从</a:t>
            </a:r>
            <a:r>
              <a:rPr lang="en-US" b="true" i="false" strike="noStrike" u="none" sz="7200">
                <a:solidFill>
                  <a:srgbClr val="FF4F87"/>
                </a:solidFill>
                <a:latin typeface="Noto Sans SC"/>
                <a:ea typeface="Noto Sans SC"/>
                <a:cs typeface="Noto Sans SC"/>
                <a:sym typeface="Noto Sans SC"/>
              </a:rPr>
              <a:t>派简历</a:t>
            </a:r>
            <a:r>
              <a:rPr lang="en-US" b="true" i="false" strike="noStrike" u="none" sz="72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开始。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4445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699000"/>
            <a:ext cx="635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800">
                <a:solidFill>
                  <a:srgbClr val="DCD2C8"/>
                </a:solidFill>
                <a:latin typeface="Noto Serif SC"/>
                <a:ea typeface="Noto Serif SC"/>
                <a:cs typeface="Noto Serif SC"/>
                <a:sym typeface="Noto Serif SC"/>
              </a:rPr>
              <a:t>扫码访问，立即开始制作你的专属简历。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5588000"/>
            <a:ext cx="5080000" cy="889000"/>
          </a:xfrm>
          <a:prstGeom prst="roundRect">
            <a:avLst>
              <a:gd name="adj" fmla="val 0"/>
            </a:avLst>
          </a:prstGeom>
          <a:solidFill>
            <a:srgbClr val="F1E2C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715000"/>
            <a:ext cx="457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646B8"/>
                </a:solidFill>
                <a:latin typeface="Noto Sans SC"/>
                <a:ea typeface="Noto Sans SC"/>
                <a:cs typeface="Noto Sans SC"/>
                <a:sym typeface="Noto Sans SC"/>
              </a:rPr>
              <a:t>resume.paicoding.com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6070600"/>
            <a:ext cx="457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5A50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驱动的智能简历工具 · 免费使用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5588000"/>
            <a:ext cx="889000" cy="889000"/>
          </a:xfrm>
          <a:prstGeom prst="roundRect">
            <a:avLst>
              <a:gd name="adj" fmla="val 0"/>
            </a:avLst>
          </a:prstGeom>
          <a:solidFill>
            <a:srgbClr val="FF4F8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5778500"/>
            <a:ext cx="88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493000" y="5715000"/>
            <a:ext cx="406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E2C2"/>
                </a:solidFill>
                <a:latin typeface="Noto Sans SC"/>
                <a:ea typeface="Noto Sans SC"/>
                <a:cs typeface="Noto Sans SC"/>
                <a:sym typeface="Noto Sans SC"/>
              </a:rPr>
              <a:t>让 AI 和你一起写简历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493000" y="6070600"/>
            <a:ext cx="4064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BED2"/>
                </a:solidFill>
                <a:latin typeface="Noto Sans SC"/>
                <a:ea typeface="Noto Sans SC"/>
                <a:cs typeface="Noto Sans SC"/>
                <a:sym typeface="Noto Sans SC"/>
              </a:rPr>
              <a:t>AI 评分 · 智能优化 · 一页排版 · 一键导出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6667500"/>
            <a:ext cx="10668000" cy="19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B4BED2"/>
                </a:solidFill>
                <a:latin typeface="Noto Sans SC"/>
                <a:ea typeface="Noto Sans SC"/>
                <a:cs typeface="Noto Sans SC"/>
                <a:sym typeface="Noto Sans SC"/>
              </a:rPr>
              <a:t>PAI RESUME · 让每个人都拥有一份好简历 · VOL.01 · 2026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